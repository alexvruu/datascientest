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12600000" cx="9720000"/>
  <p:notesSz cx="6858000" cy="9144000"/>
  <p:embeddedFontLst>
    <p:embeddedFont>
      <p:font typeface="Urbanist"/>
      <p:regular r:id="rId8"/>
      <p:bold r:id="rId9"/>
      <p:italic r:id="rId10"/>
      <p:boldItalic r:id="rId11"/>
    </p:embeddedFont>
    <p:embeddedFont>
      <p:font typeface="Urbanist Black"/>
      <p:bold r:id="rId12"/>
      <p:boldItalic r:id="rId13"/>
    </p:embeddedFont>
    <p:embeddedFont>
      <p:font typeface="Rubik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69">
          <p15:clr>
            <a:srgbClr val="A4A3A4"/>
          </p15:clr>
        </p15:guide>
        <p15:guide id="2" pos="3061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BYnSEVtQ7E7D7TYeDAglbhs47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4EFB1F-A9BD-4685-95B6-52A76EABC22D}">
  <a:tblStyle styleId="{9B4EFB1F-A9BD-4685-95B6-52A76EABC22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69" orient="horz"/>
        <p:guide pos="306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boldItalic.fntdata"/><Relationship Id="rId10" Type="http://schemas.openxmlformats.org/officeDocument/2006/relationships/font" Target="fonts/Urbanist-italic.fntdata"/><Relationship Id="rId13" Type="http://schemas.openxmlformats.org/officeDocument/2006/relationships/font" Target="fonts/UrbanistBlack-boldItalic.fntdata"/><Relationship Id="rId12" Type="http://schemas.openxmlformats.org/officeDocument/2006/relationships/font" Target="fonts/Urbanist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Urbanist-bold.fntdata"/><Relationship Id="rId15" Type="http://schemas.openxmlformats.org/officeDocument/2006/relationships/font" Target="fonts/Rubik-bold.fntdata"/><Relationship Id="rId14" Type="http://schemas.openxmlformats.org/officeDocument/2006/relationships/font" Target="fonts/Rubik-regular.fntdata"/><Relationship Id="rId17" Type="http://schemas.openxmlformats.org/officeDocument/2006/relationships/font" Target="fonts/Rubik-boldItalic.fntdata"/><Relationship Id="rId16" Type="http://schemas.openxmlformats.org/officeDocument/2006/relationships/font" Target="fonts/Rubik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6680" y="685800"/>
            <a:ext cx="264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2106680" y="685800"/>
            <a:ext cx="264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E8E3D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5941" y="988121"/>
            <a:ext cx="1144798" cy="876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9256" y="10625706"/>
            <a:ext cx="2801490" cy="551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3135" y="9804676"/>
            <a:ext cx="1144816" cy="71860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9"/>
          <p:cNvSpPr txBox="1"/>
          <p:nvPr>
            <p:ph type="title"/>
          </p:nvPr>
        </p:nvSpPr>
        <p:spPr>
          <a:xfrm>
            <a:off x="2401299" y="4794112"/>
            <a:ext cx="4917300" cy="2095200"/>
          </a:xfrm>
          <a:prstGeom prst="rect">
            <a:avLst/>
          </a:prstGeom>
          <a:solidFill>
            <a:srgbClr val="F5FA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Urbanist Black"/>
              <a:buNone/>
              <a:defRPr sz="47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ière-plan simple" type="blank">
  <p:cSld name="BLANK">
    <p:bg>
      <p:bgPr>
        <a:solidFill>
          <a:srgbClr val="E8E3D4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108885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 type="secHead">
  <p:cSld name="SECTION_HEADER">
    <p:bg>
      <p:bgPr>
        <a:solidFill>
          <a:srgbClr val="E8E3D4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5"/>
          <p:cNvSpPr txBox="1"/>
          <p:nvPr>
            <p:ph type="title"/>
          </p:nvPr>
        </p:nvSpPr>
        <p:spPr>
          <a:xfrm>
            <a:off x="2401299" y="4794112"/>
            <a:ext cx="4917300" cy="2095200"/>
          </a:xfrm>
          <a:prstGeom prst="rect">
            <a:avLst/>
          </a:prstGeom>
          <a:solidFill>
            <a:srgbClr val="F5FA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Font typeface="Urbanist Black"/>
              <a:buNone/>
              <a:defRPr sz="47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pic>
        <p:nvPicPr>
          <p:cNvPr id="19" name="Google Shape;1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aragraphes - TITRE en annonce" type="tx">
  <p:cSld name="TITLE_AND_BODY">
    <p:bg>
      <p:bgPr>
        <a:solidFill>
          <a:srgbClr val="E8E3D4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idx="12" type="sldNum"/>
          </p:nvPr>
        </p:nvSpPr>
        <p:spPr>
          <a:xfrm>
            <a:off x="108885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" name="Google Shape;22;p38"/>
          <p:cNvSpPr txBox="1"/>
          <p:nvPr>
            <p:ph type="title"/>
          </p:nvPr>
        </p:nvSpPr>
        <p:spPr>
          <a:xfrm>
            <a:off x="1086963" y="767183"/>
            <a:ext cx="4763700" cy="1348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Urbanist Black"/>
              <a:buNone/>
              <a:defRPr sz="25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subTitle"/>
          </p:nvPr>
        </p:nvSpPr>
        <p:spPr>
          <a:xfrm>
            <a:off x="1086963" y="2833867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38"/>
          <p:cNvSpPr txBox="1"/>
          <p:nvPr>
            <p:ph idx="2" type="body"/>
          </p:nvPr>
        </p:nvSpPr>
        <p:spPr>
          <a:xfrm>
            <a:off x="1102748" y="4214024"/>
            <a:ext cx="7521900" cy="2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25" name="Google Shape;2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8"/>
          <p:cNvSpPr txBox="1"/>
          <p:nvPr>
            <p:ph idx="3" type="body"/>
          </p:nvPr>
        </p:nvSpPr>
        <p:spPr>
          <a:xfrm>
            <a:off x="1111195" y="8830472"/>
            <a:ext cx="75219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27" name="Google Shape;27;p38"/>
          <p:cNvSpPr txBox="1"/>
          <p:nvPr>
            <p:ph idx="4" type="subTitle"/>
          </p:nvPr>
        </p:nvSpPr>
        <p:spPr>
          <a:xfrm>
            <a:off x="1094855" y="7450315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Paragraphe - TITRE en annonce">
  <p:cSld name="TITLE_AND_BODY_1">
    <p:bg>
      <p:bgPr>
        <a:solidFill>
          <a:srgbClr val="E8E3D4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/>
          <p:nvPr>
            <p:ph type="title"/>
          </p:nvPr>
        </p:nvSpPr>
        <p:spPr>
          <a:xfrm>
            <a:off x="1086963" y="767183"/>
            <a:ext cx="4763700" cy="1348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Urbanist Black"/>
              <a:buNone/>
              <a:defRPr sz="25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0" name="Google Shape;30;p47"/>
          <p:cNvSpPr txBox="1"/>
          <p:nvPr>
            <p:ph idx="1" type="subTitle"/>
          </p:nvPr>
        </p:nvSpPr>
        <p:spPr>
          <a:xfrm>
            <a:off x="1086963" y="2833867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1" name="Google Shape;3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7"/>
          <p:cNvSpPr txBox="1"/>
          <p:nvPr>
            <p:ph idx="2" type="body"/>
          </p:nvPr>
        </p:nvSpPr>
        <p:spPr>
          <a:xfrm>
            <a:off x="1102748" y="4214024"/>
            <a:ext cx="7440900" cy="7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1">
  <p:cSld name="TITLE_AND_BODY_3">
    <p:bg>
      <p:bgPr>
        <a:solidFill>
          <a:srgbClr val="E8E3D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331a698c78_1_129"/>
          <p:cNvSpPr txBox="1"/>
          <p:nvPr>
            <p:ph idx="12" type="sldNum"/>
          </p:nvPr>
        </p:nvSpPr>
        <p:spPr>
          <a:xfrm>
            <a:off x="108885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5" name="Google Shape;35;g2331a698c78_1_129"/>
          <p:cNvSpPr txBox="1"/>
          <p:nvPr>
            <p:ph type="title"/>
          </p:nvPr>
        </p:nvSpPr>
        <p:spPr>
          <a:xfrm>
            <a:off x="1167963" y="767183"/>
            <a:ext cx="4763700" cy="1348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Urbanist Black"/>
              <a:buNone/>
              <a:defRPr sz="25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6" name="Google Shape;36;g2331a698c78_1_129"/>
          <p:cNvSpPr txBox="1"/>
          <p:nvPr>
            <p:ph idx="1" type="subTitle"/>
          </p:nvPr>
        </p:nvSpPr>
        <p:spPr>
          <a:xfrm>
            <a:off x="1086963" y="2833867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g2331a698c78_1_129"/>
          <p:cNvSpPr txBox="1"/>
          <p:nvPr>
            <p:ph idx="2" type="body"/>
          </p:nvPr>
        </p:nvSpPr>
        <p:spPr>
          <a:xfrm>
            <a:off x="1102748" y="4214024"/>
            <a:ext cx="7521900" cy="26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38" name="Google Shape;38;g2331a698c78_1_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g2331a698c78_1_129"/>
          <p:cNvSpPr txBox="1"/>
          <p:nvPr>
            <p:ph idx="3" type="body"/>
          </p:nvPr>
        </p:nvSpPr>
        <p:spPr>
          <a:xfrm>
            <a:off x="1111195" y="8830472"/>
            <a:ext cx="75219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0" name="Google Shape;40;g2331a698c78_1_129"/>
          <p:cNvSpPr txBox="1"/>
          <p:nvPr>
            <p:ph idx="4" type="subTitle"/>
          </p:nvPr>
        </p:nvSpPr>
        <p:spPr>
          <a:xfrm>
            <a:off x="1094855" y="7450315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aragraphes - TITRE en rappel" type="twoColTx">
  <p:cSld name="TITLE_AND_TWO_COLUMNS">
    <p:bg>
      <p:bgPr>
        <a:solidFill>
          <a:srgbClr val="E8E3D4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idx="12" type="sldNum"/>
          </p:nvPr>
        </p:nvSpPr>
        <p:spPr>
          <a:xfrm>
            <a:off x="108885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3" name="Google Shape;4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6"/>
          <p:cNvSpPr txBox="1"/>
          <p:nvPr>
            <p:ph type="title"/>
          </p:nvPr>
        </p:nvSpPr>
        <p:spPr>
          <a:xfrm>
            <a:off x="-93065" y="584404"/>
            <a:ext cx="3027000" cy="9048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/>
        </p:txBody>
      </p:sp>
      <p:sp>
        <p:nvSpPr>
          <p:cNvPr id="45" name="Google Shape;45;p46"/>
          <p:cNvSpPr txBox="1"/>
          <p:nvPr>
            <p:ph idx="1" type="subTitle"/>
          </p:nvPr>
        </p:nvSpPr>
        <p:spPr>
          <a:xfrm>
            <a:off x="1086963" y="2087200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46"/>
          <p:cNvSpPr txBox="1"/>
          <p:nvPr>
            <p:ph idx="2" type="body"/>
          </p:nvPr>
        </p:nvSpPr>
        <p:spPr>
          <a:xfrm>
            <a:off x="1102748" y="3467358"/>
            <a:ext cx="75219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7" name="Google Shape;47;p46"/>
          <p:cNvSpPr txBox="1"/>
          <p:nvPr>
            <p:ph idx="3" type="body"/>
          </p:nvPr>
        </p:nvSpPr>
        <p:spPr>
          <a:xfrm>
            <a:off x="1111199" y="8546061"/>
            <a:ext cx="7521900" cy="3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8" name="Google Shape;48;p46"/>
          <p:cNvSpPr txBox="1"/>
          <p:nvPr>
            <p:ph idx="4" type="subTitle"/>
          </p:nvPr>
        </p:nvSpPr>
        <p:spPr>
          <a:xfrm>
            <a:off x="1094855" y="7165918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 - TITRE en annonce">
  <p:cSld name="TITLE_AND_BODY_1_1">
    <p:bg>
      <p:bgPr>
        <a:solidFill>
          <a:srgbClr val="E8E3D4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1086963" y="767183"/>
            <a:ext cx="4763700" cy="1348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Urbanist Black"/>
              <a:buNone/>
              <a:defRPr sz="25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" type="subTitle"/>
          </p:nvPr>
        </p:nvSpPr>
        <p:spPr>
          <a:xfrm>
            <a:off x="1086963" y="2833867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52" name="Google Shape;5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8"/>
          <p:cNvSpPr txBox="1"/>
          <p:nvPr>
            <p:ph idx="2" type="body"/>
          </p:nvPr>
        </p:nvSpPr>
        <p:spPr>
          <a:xfrm>
            <a:off x="1102748" y="4226829"/>
            <a:ext cx="3614700" cy="7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4" name="Google Shape;54;p48"/>
          <p:cNvSpPr txBox="1"/>
          <p:nvPr>
            <p:ph idx="3" type="body"/>
          </p:nvPr>
        </p:nvSpPr>
        <p:spPr>
          <a:xfrm>
            <a:off x="5012752" y="4226829"/>
            <a:ext cx="3614700" cy="7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 - Image - TITRE en annonce">
  <p:cSld name="TITLE_AND_BODY_1_1_1">
    <p:bg>
      <p:bgPr>
        <a:solidFill>
          <a:srgbClr val="E8E3D4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9"/>
          <p:cNvSpPr txBox="1"/>
          <p:nvPr>
            <p:ph type="title"/>
          </p:nvPr>
        </p:nvSpPr>
        <p:spPr>
          <a:xfrm>
            <a:off x="1086963" y="767183"/>
            <a:ext cx="4763700" cy="1348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Urbanist Black"/>
              <a:buNone/>
              <a:defRPr sz="25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" type="subTitle"/>
          </p:nvPr>
        </p:nvSpPr>
        <p:spPr>
          <a:xfrm>
            <a:off x="1086963" y="2833867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58" name="Google Shape;5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9"/>
          <p:cNvSpPr txBox="1"/>
          <p:nvPr>
            <p:ph idx="2" type="body"/>
          </p:nvPr>
        </p:nvSpPr>
        <p:spPr>
          <a:xfrm>
            <a:off x="1102748" y="4226829"/>
            <a:ext cx="3614700" cy="7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60" name="Google Shape;60;p49"/>
          <p:cNvSpPr/>
          <p:nvPr>
            <p:ph idx="3" type="pic"/>
          </p:nvPr>
        </p:nvSpPr>
        <p:spPr>
          <a:xfrm>
            <a:off x="5012911" y="4226824"/>
            <a:ext cx="3614700" cy="767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paragraphe - TITRE en rappel">
  <p:cSld name="TITLE_AND_TWO_COLUMNS_1">
    <p:bg>
      <p:bgPr>
        <a:solidFill>
          <a:srgbClr val="E8E3D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idx="12" type="sldNum"/>
          </p:nvPr>
        </p:nvSpPr>
        <p:spPr>
          <a:xfrm>
            <a:off x="108885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3" name="Google Shape;6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0"/>
          <p:cNvSpPr txBox="1"/>
          <p:nvPr>
            <p:ph type="title"/>
          </p:nvPr>
        </p:nvSpPr>
        <p:spPr>
          <a:xfrm>
            <a:off x="-93065" y="584404"/>
            <a:ext cx="3027000" cy="9048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/>
        </p:txBody>
      </p:sp>
      <p:sp>
        <p:nvSpPr>
          <p:cNvPr id="65" name="Google Shape;65;p50"/>
          <p:cNvSpPr txBox="1"/>
          <p:nvPr>
            <p:ph idx="1" type="subTitle"/>
          </p:nvPr>
        </p:nvSpPr>
        <p:spPr>
          <a:xfrm>
            <a:off x="1086963" y="2087200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50"/>
          <p:cNvSpPr txBox="1"/>
          <p:nvPr>
            <p:ph idx="2" type="body"/>
          </p:nvPr>
        </p:nvSpPr>
        <p:spPr>
          <a:xfrm>
            <a:off x="1102748" y="3467358"/>
            <a:ext cx="7521900" cy="7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 - TITRE en rappel">
  <p:cSld name="MAIN_POINT_2">
    <p:bg>
      <p:bgPr>
        <a:solidFill>
          <a:srgbClr val="E8E3D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1"/>
          <p:cNvSpPr txBox="1"/>
          <p:nvPr>
            <p:ph idx="12" type="sldNum"/>
          </p:nvPr>
        </p:nvSpPr>
        <p:spPr>
          <a:xfrm>
            <a:off x="9006156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9" name="Google Shape;69;p51"/>
          <p:cNvSpPr txBox="1"/>
          <p:nvPr>
            <p:ph idx="1" type="subTitle"/>
          </p:nvPr>
        </p:nvSpPr>
        <p:spPr>
          <a:xfrm>
            <a:off x="1086963" y="2087200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51"/>
          <p:cNvSpPr txBox="1"/>
          <p:nvPr>
            <p:ph idx="2" type="body"/>
          </p:nvPr>
        </p:nvSpPr>
        <p:spPr>
          <a:xfrm>
            <a:off x="1102748" y="3467358"/>
            <a:ext cx="3614700" cy="7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1" name="Google Shape;71;p51"/>
          <p:cNvSpPr txBox="1"/>
          <p:nvPr>
            <p:ph type="title"/>
          </p:nvPr>
        </p:nvSpPr>
        <p:spPr>
          <a:xfrm>
            <a:off x="-93065" y="584404"/>
            <a:ext cx="3027000" cy="9048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/>
        </p:txBody>
      </p:sp>
      <p:pic>
        <p:nvPicPr>
          <p:cNvPr id="72" name="Google Shape;7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1"/>
          <p:cNvSpPr txBox="1"/>
          <p:nvPr>
            <p:ph idx="3" type="body"/>
          </p:nvPr>
        </p:nvSpPr>
        <p:spPr>
          <a:xfrm>
            <a:off x="5174911" y="3467358"/>
            <a:ext cx="3614700" cy="7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 - Image - TITRE en rappel">
  <p:cSld name="MAIN_POINT">
    <p:bg>
      <p:bgPr>
        <a:solidFill>
          <a:srgbClr val="E8E3D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idx="12" type="sldNum"/>
          </p:nvPr>
        </p:nvSpPr>
        <p:spPr>
          <a:xfrm>
            <a:off x="9006156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6" name="Google Shape;76;p52"/>
          <p:cNvSpPr txBox="1"/>
          <p:nvPr>
            <p:ph idx="1" type="subTitle"/>
          </p:nvPr>
        </p:nvSpPr>
        <p:spPr>
          <a:xfrm>
            <a:off x="1086963" y="2087200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52"/>
          <p:cNvSpPr txBox="1"/>
          <p:nvPr>
            <p:ph idx="2" type="body"/>
          </p:nvPr>
        </p:nvSpPr>
        <p:spPr>
          <a:xfrm>
            <a:off x="1102748" y="3467358"/>
            <a:ext cx="3614700" cy="7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8" name="Google Shape;78;p52"/>
          <p:cNvSpPr txBox="1"/>
          <p:nvPr>
            <p:ph type="title"/>
          </p:nvPr>
        </p:nvSpPr>
        <p:spPr>
          <a:xfrm>
            <a:off x="-93065" y="584404"/>
            <a:ext cx="3027000" cy="9048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/>
        </p:txBody>
      </p:sp>
      <p:pic>
        <p:nvPicPr>
          <p:cNvPr id="79" name="Google Shape;7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2"/>
          <p:cNvSpPr/>
          <p:nvPr>
            <p:ph idx="3" type="pic"/>
          </p:nvPr>
        </p:nvSpPr>
        <p:spPr>
          <a:xfrm>
            <a:off x="5174911" y="3467358"/>
            <a:ext cx="3614700" cy="767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 avec Intitulé - TITRE en rappel">
  <p:cSld name="MAIN_POINT_1">
    <p:bg>
      <p:bgPr>
        <a:solidFill>
          <a:srgbClr val="E8E3D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3"/>
          <p:cNvSpPr txBox="1"/>
          <p:nvPr>
            <p:ph idx="12" type="sldNum"/>
          </p:nvPr>
        </p:nvSpPr>
        <p:spPr>
          <a:xfrm>
            <a:off x="9006156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3" name="Google Shape;83;p53"/>
          <p:cNvSpPr txBox="1"/>
          <p:nvPr>
            <p:ph idx="1" type="subTitle"/>
          </p:nvPr>
        </p:nvSpPr>
        <p:spPr>
          <a:xfrm>
            <a:off x="1086963" y="2087200"/>
            <a:ext cx="1940100" cy="11310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53"/>
          <p:cNvSpPr txBox="1"/>
          <p:nvPr>
            <p:ph idx="2" type="body"/>
          </p:nvPr>
        </p:nvSpPr>
        <p:spPr>
          <a:xfrm>
            <a:off x="1102748" y="4989965"/>
            <a:ext cx="3614700" cy="6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5" name="Google Shape;85;p53"/>
          <p:cNvSpPr txBox="1"/>
          <p:nvPr>
            <p:ph type="title"/>
          </p:nvPr>
        </p:nvSpPr>
        <p:spPr>
          <a:xfrm>
            <a:off x="-93065" y="584404"/>
            <a:ext cx="3027000" cy="9048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350" lIns="100350" spcFirstLastPara="1" rIns="100350" wrap="square" tIns="10035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Urbanist Black"/>
              <a:buNone/>
              <a:defRPr sz="13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/>
        </p:txBody>
      </p:sp>
      <p:pic>
        <p:nvPicPr>
          <p:cNvPr id="86" name="Google Shape;86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86749" y="11140656"/>
            <a:ext cx="471251" cy="4712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3"/>
          <p:cNvSpPr txBox="1"/>
          <p:nvPr>
            <p:ph idx="3" type="body"/>
          </p:nvPr>
        </p:nvSpPr>
        <p:spPr>
          <a:xfrm>
            <a:off x="1102748" y="3623710"/>
            <a:ext cx="36147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○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■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○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■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○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■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8" name="Google Shape;88;p53"/>
          <p:cNvSpPr txBox="1"/>
          <p:nvPr>
            <p:ph idx="4" type="body"/>
          </p:nvPr>
        </p:nvSpPr>
        <p:spPr>
          <a:xfrm>
            <a:off x="5314748" y="4989965"/>
            <a:ext cx="3614700" cy="6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9" name="Google Shape;89;p53"/>
          <p:cNvSpPr txBox="1"/>
          <p:nvPr>
            <p:ph idx="5" type="body"/>
          </p:nvPr>
        </p:nvSpPr>
        <p:spPr>
          <a:xfrm>
            <a:off x="5314748" y="3623710"/>
            <a:ext cx="36147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○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■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○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■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○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■"/>
              <a:defRPr b="1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31335" y="1090175"/>
            <a:ext cx="90573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31335" y="2823211"/>
            <a:ext cx="9057300" cy="83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350" lIns="100350" spcFirstLastPara="1" rIns="100350" wrap="square" tIns="100350">
            <a:norm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9006156" y="11423454"/>
            <a:ext cx="5832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350" lIns="100350" spcFirstLastPara="1" rIns="100350" wrap="square" tIns="1003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3"/>
          <p:cNvGraphicFramePr/>
          <p:nvPr/>
        </p:nvGraphicFramePr>
        <p:xfrm>
          <a:off x="513000" y="22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{9B4EFB1F-A9BD-4685-95B6-52A76EABC22D}</a:tableStyleId>
              </a:tblPr>
              <a:tblGrid>
                <a:gridCol w="1463950"/>
                <a:gridCol w="2331475"/>
                <a:gridCol w="2331475"/>
                <a:gridCol w="2331475"/>
              </a:tblGrid>
              <a:tr h="4021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" sz="14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Synthèse de la Discovery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29DE"/>
                    </a:solidFill>
                  </a:tcPr>
                </a:tc>
                <a:tc hMerge="1"/>
                <a:tc hMerge="1"/>
                <a:tc hMerge="1"/>
              </a:tr>
              <a:tr h="47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Problème 1 </a:t>
                      </a:r>
                      <a:r>
                        <a:rPr i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du problème)</a:t>
                      </a:r>
                      <a:endParaRPr b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Problème 2 </a:t>
                      </a:r>
                      <a:r>
                        <a:rPr i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du problème)</a:t>
                      </a:r>
                      <a:endParaRPr b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Problème 3 </a:t>
                      </a:r>
                      <a:r>
                        <a:rPr i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du problème)</a:t>
                      </a:r>
                      <a:endParaRPr b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</a:tr>
              <a:tr h="1925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What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b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Description plus fine du problème ou décomposition  en sous problèmes si l’énoncé principal problème englobe plusieurs sous problématiques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772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Who</a:t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 de User / Personas concernés par le problème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 1 </a:t>
                      </a:r>
                      <a:endParaRPr sz="10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 1 </a:t>
                      </a:r>
                      <a:endParaRPr sz="10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 1 </a:t>
                      </a:r>
                      <a:endParaRPr sz="10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093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 2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 2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 2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5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Why &amp; how much</a:t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Quel est l’impact sur le business/ le user …, pourquoi chercher à résoudre ce problème ?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Quantifier</a:t>
                      </a: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: à quel point est-ce un problème ? </a:t>
                      </a:r>
                      <a:r>
                        <a:rPr i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(s’appuyer sur les analyses quantitatives)</a:t>
                      </a:r>
                      <a:endParaRPr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3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Solutions de contournement (optionnel)</a:t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Manières dont les utilisateurs contournent le problème ou s'adapte à l'état actuel des choses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4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What value </a:t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Quelle valeur apportera la résolution de cette problématique ?</a:t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1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1" lang="fr" sz="7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Converger vers les solutions</a:t>
                      </a:r>
                      <a:endParaRPr b="1" i="1" sz="7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Besoin / Amélioration 1 </a:t>
                      </a:r>
                      <a:r>
                        <a:rPr i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de l’amélioration)</a:t>
                      </a:r>
                      <a:endParaRPr i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Besoin / Amélioration </a:t>
                      </a:r>
                      <a:r>
                        <a:rPr b="1" lang="fr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de l’amélioration)</a:t>
                      </a:r>
                      <a:endParaRPr b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Besoin / Amélioration </a:t>
                      </a:r>
                      <a:r>
                        <a:rPr b="1" lang="fr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b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fr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(remplacer par l’intitulé de l’amélioration)</a:t>
                      </a:r>
                      <a:endParaRPr b="1" sz="1200" u="none" cap="none" strike="noStrike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</a:tr>
              <a:tr h="144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1" lang="fr" sz="10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>Solution possibles</a:t>
                      </a:r>
                      <a:endParaRPr b="1" i="1" sz="10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D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